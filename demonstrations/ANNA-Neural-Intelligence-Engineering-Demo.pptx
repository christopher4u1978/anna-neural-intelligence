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2aa267a0f4b09" /><Relationship Type="http://schemas.openxmlformats.org/officeDocument/2006/relationships/extended-properties" Target="/docProps/app.xml" Id="R854902e0edd346a4" /><Relationship Type="http://schemas.openxmlformats.org/officeDocument/2006/relationships/officeDocument" Target="/ppt/presentation.xml" Id="Ra93a1b39cb6c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f4473f246542d2"/>
  </p:sldMasterIdLst>
  <p:notesMasterIdLst>
    <p:notesMasterId xmlns:r="http://schemas.openxmlformats.org/officeDocument/2006/relationships" r:id="R21b7385454a04f1b"/>
  </p:notesMasterIdLst>
  <p:sldIdLst>
    <p:sldId xmlns:r="http://schemas.openxmlformats.org/officeDocument/2006/relationships" id="256" r:id="R6e0ce12dbb794506"/>
    <p:sldId xmlns:r="http://schemas.openxmlformats.org/officeDocument/2006/relationships" id="257" r:id="R9140efe683dc4f2b"/>
    <p:sldId xmlns:r="http://schemas.openxmlformats.org/officeDocument/2006/relationships" id="258" r:id="R6c9b273bf27f493e"/>
    <p:sldId xmlns:r="http://schemas.openxmlformats.org/officeDocument/2006/relationships" id="259" r:id="Rf0a94534d3f544b1"/>
    <p:sldId xmlns:r="http://schemas.openxmlformats.org/officeDocument/2006/relationships" id="260" r:id="R14fb2af20c0d42c3"/>
    <p:sldId xmlns:r="http://schemas.openxmlformats.org/officeDocument/2006/relationships" id="261" r:id="R4f4824d8086a4add"/>
    <p:sldId xmlns:r="http://schemas.openxmlformats.org/officeDocument/2006/relationships" id="262" r:id="Ra230259727fe4e45"/>
    <p:sldId xmlns:r="http://schemas.openxmlformats.org/officeDocument/2006/relationships" id="263" r:id="R296dc78d7e3541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56d0c76614540" /><Relationship Type="http://schemas.openxmlformats.org/officeDocument/2006/relationships/slideMaster" Target="/ppt/slideMasters/slideMaster1.xml" Id="R50f4473f246542d2" /><Relationship Type="http://schemas.openxmlformats.org/officeDocument/2006/relationships/notesMaster" Target="/ppt/notesMasters/notesMaster1.xml" Id="R21b7385454a04f1b" /><Relationship Type="http://schemas.openxmlformats.org/officeDocument/2006/relationships/presProps" Target="/ppt/presProps.xml" Id="R0ceb90e445a2481e" /><Relationship Type="http://schemas.openxmlformats.org/officeDocument/2006/relationships/tableStyles" Target="/ppt/tableStyles.xml" Id="R44c22a1beb0d4cdd" /><Relationship Type="http://schemas.openxmlformats.org/officeDocument/2006/relationships/slide" Target="/ppt/slides/slide1.xml" Id="R6e0ce12dbb794506" /><Relationship Type="http://schemas.openxmlformats.org/officeDocument/2006/relationships/slide" Target="/ppt/slides/slide2.xml" Id="R9140efe683dc4f2b" /><Relationship Type="http://schemas.openxmlformats.org/officeDocument/2006/relationships/slide" Target="/ppt/slides/slide3.xml" Id="R6c9b273bf27f493e" /><Relationship Type="http://schemas.openxmlformats.org/officeDocument/2006/relationships/slide" Target="/ppt/slides/slide4.xml" Id="Rf0a94534d3f544b1" /><Relationship Type="http://schemas.openxmlformats.org/officeDocument/2006/relationships/slide" Target="/ppt/slides/slide5.xml" Id="R14fb2af20c0d42c3" /><Relationship Type="http://schemas.openxmlformats.org/officeDocument/2006/relationships/slide" Target="/ppt/slides/slide6.xml" Id="R4f4824d8086a4add" /><Relationship Type="http://schemas.openxmlformats.org/officeDocument/2006/relationships/slide" Target="/ppt/slides/slide7.xml" Id="Ra230259727fe4e45" /><Relationship Type="http://schemas.openxmlformats.org/officeDocument/2006/relationships/slide" Target="/ppt/slides/slide8.xml" Id="R296dc78d7e35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d96a2f0f6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2800f81fd4846" /><Relationship Type="http://schemas.openxmlformats.org/officeDocument/2006/relationships/notesMaster" Target="/ppt/notesMasters/notesMaster1.xml" Id="R8fdf924fd7b1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3c21ff4f44f7a" /><Relationship Type="http://schemas.openxmlformats.org/officeDocument/2006/relationships/notesMaster" Target="/ppt/notesMasters/notesMaster1.xml" Id="Rfdac21f561b144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1201fffc346ab" /><Relationship Type="http://schemas.openxmlformats.org/officeDocument/2006/relationships/notesMaster" Target="/ppt/notesMasters/notesMaster1.xml" Id="R3223a73830b2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d37e13be049d0" /><Relationship Type="http://schemas.openxmlformats.org/officeDocument/2006/relationships/notesMaster" Target="/ppt/notesMasters/notesMaster1.xml" Id="R484875267dc5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8c10e75dbf4889" /><Relationship Type="http://schemas.openxmlformats.org/officeDocument/2006/relationships/notesMaster" Target="/ppt/notesMasters/notesMaster1.xml" Id="R7050ce7b437a4a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2da3ca724a4b58" /><Relationship Type="http://schemas.openxmlformats.org/officeDocument/2006/relationships/notesMaster" Target="/ppt/notesMasters/notesMaster1.xml" Id="R39144992f99c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e55a79877482e" /><Relationship Type="http://schemas.openxmlformats.org/officeDocument/2006/relationships/notesMaster" Target="/ppt/notesMasters/notesMaster1.xml" Id="R272d0a2ad957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22cae15b9d4693" /><Relationship Type="http://schemas.openxmlformats.org/officeDocument/2006/relationships/notesMaster" Target="/ppt/notesMasters/notesMaster1.xml" Id="R1b184956850f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portfolio demonstration. Owner: Christopher Payne, Anna Nexus Labs LLC. No official Tesla assignment was supplied. No endorsement, Tesla hardware or production integration is claimed. AI-assisted implementation; local test and measurement receipts accompany the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PHASE_0.md and PROVENANCE.md. Existing ANNA orchestrates tasks. This project trains a neural model from random weights. They remain standalone. CIFAR-10 extension and accelerator experiments are future work. The smaller UCI workload supports reproducible CPU retraining with clear CC BY 4.0 licensing.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src/anna_neural/model.py and docs/ARCHITECTURE.md. Random Kaiming initialization, zero biases, logits for cross-entropy. Conv 1 includes ReLU then 2x2 maxpool. Conv 2 also includes ReLU. FC 1 includes ReLU. The dense layer owns most parameters and Conv 2 owns most MACs. Diagram in the report/website is equivalent.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results/seed369/learning_curves.json and training.json; UCI DOI https://doi.org/10.24432/C50P49 and dataset https://archive.ics.uci.edu/dataset/80/optical+recognition+of+handwritten+digits. Original official train/test files. Validation only from training file. Train-only normalization. Fixed 40 epochs; select minimum validation loss, not best test accuracy. Test observed after training. Reference chosen in advance.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results/seed369/training.json, int8-evaluation.json and channels-last-evaluation.json. Static x86 INT8 weights and supported kernels, training-only 512-sample calibration. Fused conv/relu and linear/relu, float input/output. Precision/size/latency each measured. Serialized state sizes exclude optimizer and runtime. Quantized restore produced exactly identical logits locally. PyTorch recipe: https://docs.pytorch.org/tutorials/recipes/quantization.html.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results/benchmarks/summary.json and all raw condition JSON files. One intra-op thread, one inter-op thread. Median complete model forward, CPU synchronous timing, preallocated synthetic input, eval/inference_mode. 30 warmups, five repeats of 100 samples. Host contention and nonrandomized order limit causal inference. Mean/p95 and repeat CV are included in the report. No GPU or Tesla silicon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docs/BENCHMARK_METHOD.md, environment receipts, cold-start.json and profile text/Chrome traces. CPU Xeon Platinum 8573C, cgroup quota eight cores, memory 8 GiB, no CUDA. Benchmarks exclude data loading and normalization but include all forward operators/conversions. Peak process RSS includes library/runtime and is not isolated activation memory. Roofline inference requires actual traffic and attainable bandwidth, neither measured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results/unit-tests.log, reproducibility.json, anna-1.3-baseline.log, docs/VERIFICATION.md and INTERVIEW_GUIDE.md. Initial two strict deterministic INT8 errors preserved and corrected with scoped inference exception. CI authored but not run remotely. Website build/render result is separately recorded. Real mobile/desktop browser QA unavailable. Owner must review and operate before claiming personal command execution. Phase 5 integration remains 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04a0275534b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f52b656124c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3955f5a9e49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45c983c124c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868ebbb5446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ba377167a47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091166-8EC0-48AA-9DC2-99C66F894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BBA2E6-AD1E-4323-8446-25BABC2D56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264786-58E2-420B-B47B-1C9595F6A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2DEE00-498F-41FE-9B39-FE7406D25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BC3F2F-3CF7-415E-8A26-51F997B1A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F2BDCE-37E9-4F12-8245-E9A8E2E9F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504391-1C22-4E85-ACA9-9E542E332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E122A6-B8AD-4BE5-B36C-4FD1D4BDBC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AC6B7C-80F1-4462-815B-29C2CD3EE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23A5F0-8EB8-440E-9EE8-123FE37E8C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cfb71d3de420e" /><Relationship Type="http://schemas.openxmlformats.org/officeDocument/2006/relationships/slideLayout" Target="/ppt/slideLayouts/slideLayout1.xml" Id="R395c0146664f4a7f" /><Relationship Type="http://schemas.openxmlformats.org/officeDocument/2006/relationships/slideLayout" Target="/ppt/slideLayouts/slideLayout2.xml" Id="R236ac87ca4d948ad" /><Relationship Type="http://schemas.openxmlformats.org/officeDocument/2006/relationships/slideLayout" Target="/ppt/slideLayouts/slideLayout3.xml" Id="R1b65c172303f4ab9" /><Relationship Type="http://schemas.openxmlformats.org/officeDocument/2006/relationships/slideLayout" Target="/ppt/slideLayouts/slideLayout4.xml" Id="Rb974a1714bdf4839" /><Relationship Type="http://schemas.openxmlformats.org/officeDocument/2006/relationships/slideLayout" Target="/ppt/slideLayouts/slideLayout5.xml" Id="R88dfb6719d3d4bb6" /><Relationship Type="http://schemas.openxmlformats.org/officeDocument/2006/relationships/slideLayout" Target="/ppt/slideLayouts/slideLayout6.xml" Id="R09c7d0c535504a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c0146664f4a7f"/>
    <p:sldLayoutId xmlns:r="http://schemas.openxmlformats.org/officeDocument/2006/relationships" id="2147483650" r:id="R236ac87ca4d948ad"/>
    <p:sldLayoutId xmlns:r="http://schemas.openxmlformats.org/officeDocument/2006/relationships" id="2147483651" r:id="R1b65c172303f4ab9"/>
    <p:sldLayoutId xmlns:r="http://schemas.openxmlformats.org/officeDocument/2006/relationships" id="2147483652" r:id="Rb974a1714bdf4839"/>
    <p:sldLayoutId xmlns:r="http://schemas.openxmlformats.org/officeDocument/2006/relationships" id="2147483653" r:id="R88dfb6719d3d4bb6"/>
    <p:sldLayoutId xmlns:r="http://schemas.openxmlformats.org/officeDocument/2006/relationships" id="2147483654" r:id="R09c7d0c535504a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adc38573c4bc5" /><Relationship Type="http://schemas.openxmlformats.org/officeDocument/2006/relationships/notesSlide" Target="/ppt/notesSlides/notesSlide1.xml" Id="R602d704da5d34e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2d7bdb8d04b58" /><Relationship Type="http://schemas.openxmlformats.org/officeDocument/2006/relationships/notesSlide" Target="/ppt/notesSlides/notesSlide2.xml" Id="R76404a41693b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4340113e24521" /><Relationship Type="http://schemas.openxmlformats.org/officeDocument/2006/relationships/notesSlide" Target="/ppt/notesSlides/notesSlide3.xml" Id="Rc0082f7d5a4a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d1598d9f149cd" /><Relationship Type="http://schemas.openxmlformats.org/officeDocument/2006/relationships/chart" Target="/ppt/slides/charts/chart1.xml" Id="R81ae2a63ca8b48fe" /><Relationship Type="http://schemas.openxmlformats.org/officeDocument/2006/relationships/notesSlide" Target="/ppt/notesSlides/notesSlide4.xml" Id="R79a768b43ea642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fbd71c72c4a24" /><Relationship Type="http://schemas.openxmlformats.org/officeDocument/2006/relationships/notesSlide" Target="/ppt/notesSlides/notesSlide5.xml" Id="Rdcc3c7a4f0f749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7cd12abf34c0f" /><Relationship Type="http://schemas.openxmlformats.org/officeDocument/2006/relationships/chart" Target="/ppt/slides/charts/chart2.xml" Id="R65f5a200eb0541b1" /><Relationship Type="http://schemas.openxmlformats.org/officeDocument/2006/relationships/notesSlide" Target="/ppt/notesSlides/notesSlide6.xml" Id="R53c3cf7096d64f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272e279f542f1" /><Relationship Type="http://schemas.openxmlformats.org/officeDocument/2006/relationships/notesSlide" Target="/ppt/notesSlides/notesSlide7.xml" Id="R30bdceba1e5d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09ba3f6554877" /><Relationship Type="http://schemas.openxmlformats.org/officeDocument/2006/relationships/notesSlide" Target="/ppt/notesSlides/notesSlide8.xml" Id="R2e3626343c5842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Training loss</c:v>
          </c:tx>
          <c:spPr>
            <a:ln xmlns:a="http://schemas.openxmlformats.org/drawingml/2006/main" w="19050">
              <a:solidFill>
                <a:srgbClr val="305A91"/>
              </a:solidFill>
              <a:prstDash val="solid"/>
            </a:ln>
          </c:spPr>
          <c:marker>
            <c:symbol val="none"/>
          </c:marker>
          <c:cat>
            <c:numRef>
              <c:f>'Chart Data'!$A$2:$A$41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cat>
          <c:val>
            <c:numRef>
              <c:f>'Chart Data'!$B$2:$B$41</c:f>
              <c:numCache>
                <c:formatCode>0.0</c:formatCode>
                <c:ptCount val="40"/>
                <c:pt idx="0">
                  <c:v>0.724543486725</c:v>
                </c:pt>
                <c:pt idx="1">
                  <c:v>0.126078919205</c:v>
                </c:pt>
                <c:pt idx="2">
                  <c:v>0.0817904199024</c:v>
                </c:pt>
                <c:pt idx="3">
                  <c:v>0.0494209432704</c:v>
                </c:pt>
                <c:pt idx="4">
                  <c:v>0.0339942254647</c:v>
                </c:pt>
                <c:pt idx="5">
                  <c:v>0.0293375397289</c:v>
                </c:pt>
                <c:pt idx="6">
                  <c:v>0.0273601621461</c:v>
                </c:pt>
                <c:pt idx="7">
                  <c:v>0.015169606905</c:v>
                </c:pt>
                <c:pt idx="8">
                  <c:v>0.0101435730783</c:v>
                </c:pt>
                <c:pt idx="9">
                  <c:v>0.0075007505516</c:v>
                </c:pt>
                <c:pt idx="10">
                  <c:v>0.004805415591</c:v>
                </c:pt>
                <c:pt idx="11">
                  <c:v>0.00740466675317</c:v>
                </c:pt>
                <c:pt idx="12">
                  <c:v>0.0113684722398</c:v>
                </c:pt>
                <c:pt idx="13">
                  <c:v>0.0148492566489</c:v>
                </c:pt>
                <c:pt idx="14">
                  <c:v>0.00990302336284</c:v>
                </c:pt>
                <c:pt idx="15">
                  <c:v>0.00809642551259</c:v>
                </c:pt>
                <c:pt idx="16">
                  <c:v>0.00977704763232</c:v>
                </c:pt>
                <c:pt idx="17">
                  <c:v>0.00350438480202</c:v>
                </c:pt>
                <c:pt idx="18">
                  <c:v>0.000935398802028</c:v>
                </c:pt>
                <c:pt idx="19">
                  <c:v>0.000548213897937</c:v>
                </c:pt>
                <c:pt idx="20">
                  <c:v>0.000511108292555</c:v>
                </c:pt>
                <c:pt idx="21">
                  <c:v>0.000429282019742</c:v>
                </c:pt>
                <c:pt idx="22">
                  <c:v>0.000367881316152</c:v>
                </c:pt>
                <c:pt idx="23">
                  <c:v>0.000325639227062</c:v>
                </c:pt>
                <c:pt idx="24">
                  <c:v>0.000307502519322</c:v>
                </c:pt>
                <c:pt idx="25">
                  <c:v>0.000291278573694</c:v>
                </c:pt>
                <c:pt idx="26">
                  <c:v>0.000264789753779</c:v>
                </c:pt>
                <c:pt idx="27">
                  <c:v>0.000262855304284</c:v>
                </c:pt>
                <c:pt idx="28">
                  <c:v>0.000239004406369</c:v>
                </c:pt>
                <c:pt idx="29">
                  <c:v>0.000222621435786</c:v>
                </c:pt>
                <c:pt idx="30">
                  <c:v>0.000215850731702</c:v>
                </c:pt>
                <c:pt idx="31">
                  <c:v>0.00019665353387</c:v>
                </c:pt>
                <c:pt idx="32">
                  <c:v>0.000197830476578</c:v>
                </c:pt>
                <c:pt idx="33">
                  <c:v>0.000179817802471</c:v>
                </c:pt>
                <c:pt idx="34">
                  <c:v>0.000171898816055</c:v>
                </c:pt>
                <c:pt idx="35">
                  <c:v>0.000163291975964</c:v>
                </c:pt>
                <c:pt idx="36">
                  <c:v>0.00015565868116</c:v>
                </c:pt>
                <c:pt idx="37">
                  <c:v>0.000145488849928</c:v>
                </c:pt>
                <c:pt idx="38">
                  <c:v>0.000144529768105</c:v>
                </c:pt>
                <c:pt idx="39">
                  <c:v>0.000139367246876</c:v>
                </c:pt>
              </c:numCache>
            </c:numRef>
          </c:val>
        </c:ser>
        <c:ser>
          <c:idx val="1"/>
          <c:order val="1"/>
          <c:tx>
            <c:v>Validation loss</c:v>
          </c:tx>
          <c:spPr>
            <a:ln xmlns:a="http://schemas.openxmlformats.org/drawingml/2006/main" w="19050">
              <a:solidFill>
                <a:srgbClr val="B85440"/>
              </a:solidFill>
              <a:prstDash val="solid"/>
            </a:ln>
          </c:spPr>
          <c:marker>
            <c:symbol val="none"/>
          </c:marker>
          <c:cat>
            <c:numRef>
              <c:f>'Chart Data'!$C$2:$C$41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cat>
          <c:val>
            <c:numRef>
              <c:f>'Chart Data'!$D$2:$D$41</c:f>
              <c:numCache>
                <c:formatCode>0.0</c:formatCode>
                <c:ptCount val="40"/>
                <c:pt idx="0">
                  <c:v>0.219143834264</c:v>
                </c:pt>
                <c:pt idx="1">
                  <c:v>0.16008727808</c:v>
                </c:pt>
                <c:pt idx="2">
                  <c:v>0.109343630096</c:v>
                </c:pt>
                <c:pt idx="3">
                  <c:v>0.124587260057</c:v>
                </c:pt>
                <c:pt idx="4">
                  <c:v>0.100208996896</c:v>
                </c:pt>
                <c:pt idx="5">
                  <c:v>0.195043178386</c:v>
                </c:pt>
                <c:pt idx="6">
                  <c:v>0.087920878407</c:v>
                </c:pt>
                <c:pt idx="7">
                  <c:v>0.0837691943405</c:v>
                </c:pt>
                <c:pt idx="8">
                  <c:v>0.0770114057986</c:v>
                </c:pt>
                <c:pt idx="9">
                  <c:v>0.0704452555354</c:v>
                </c:pt>
                <c:pt idx="10">
                  <c:v>0.0652748489629</c:v>
                </c:pt>
                <c:pt idx="11">
                  <c:v>0.0943190283061</c:v>
                </c:pt>
                <c:pt idx="12">
                  <c:v>0.0974518687883</c:v>
                </c:pt>
                <c:pt idx="13">
                  <c:v>0.0583294447291</c:v>
                </c:pt>
                <c:pt idx="14">
                  <c:v>0.078326302123</c:v>
                </c:pt>
                <c:pt idx="15">
                  <c:v>0.104689294868</c:v>
                </c:pt>
                <c:pt idx="16">
                  <c:v>0.0702893644156</c:v>
                </c:pt>
                <c:pt idx="17">
                  <c:v>0.0757471886869</c:v>
                </c:pt>
                <c:pt idx="18">
                  <c:v>0.0666276372787</c:v>
                </c:pt>
                <c:pt idx="19">
                  <c:v>0.0706420948904</c:v>
                </c:pt>
                <c:pt idx="20">
                  <c:v>0.0717706950803</c:v>
                </c:pt>
                <c:pt idx="21">
                  <c:v>0.0703763176755</c:v>
                </c:pt>
                <c:pt idx="22">
                  <c:v>0.0716681460678</c:v>
                </c:pt>
                <c:pt idx="23">
                  <c:v>0.0721946521192</c:v>
                </c:pt>
                <c:pt idx="24">
                  <c:v>0.0706573735131</c:v>
                </c:pt>
                <c:pt idx="25">
                  <c:v>0.0706821911634</c:v>
                </c:pt>
                <c:pt idx="26">
                  <c:v>0.0707982035568</c:v>
                </c:pt>
                <c:pt idx="27">
                  <c:v>0.070055670543</c:v>
                </c:pt>
                <c:pt idx="28">
                  <c:v>0.0690424331182</c:v>
                </c:pt>
                <c:pt idx="29">
                  <c:v>0.073015032745</c:v>
                </c:pt>
                <c:pt idx="30">
                  <c:v>0.0719952705845</c:v>
                </c:pt>
                <c:pt idx="31">
                  <c:v>0.0738672819702</c:v>
                </c:pt>
                <c:pt idx="32">
                  <c:v>0.0721663947668</c:v>
                </c:pt>
                <c:pt idx="33">
                  <c:v>0.0724465153359</c:v>
                </c:pt>
                <c:pt idx="34">
                  <c:v>0.0727960331826</c:v>
                </c:pt>
                <c:pt idx="35">
                  <c:v>0.0753149941096</c:v>
                </c:pt>
                <c:pt idx="36">
                  <c:v>0.0742389229013</c:v>
                </c:pt>
                <c:pt idx="37">
                  <c:v>0.0746000336957</c:v>
                </c:pt>
                <c:pt idx="38">
                  <c:v>0.076293500666</c:v>
                </c:pt>
                <c:pt idx="39">
                  <c:v>0.07655016377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Cross-entropy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FP32</c:v>
          </c:tx>
          <c:spPr>
            <a:solidFill xmlns:a="http://schemas.openxmlformats.org/drawingml/2006/main">
              <a:srgbClr val="305A9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Batch 1</c:v>
                </c:pt>
                <c:pt idx="1">
                  <c:v>Batch 32</c:v>
                </c:pt>
                <c:pt idx="2">
                  <c:v>Batch 128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0.06599</c:v>
                </c:pt>
                <c:pt idx="1">
                  <c:v>1.458582</c:v>
                </c:pt>
                <c:pt idx="2">
                  <c:v>2.035793</c:v>
                </c:pt>
              </c:numCache>
            </c:numRef>
          </c:val>
        </c:ser>
        <c:ser>
          <c:idx val="1"/>
          <c:order val="1"/>
          <c:tx>
            <c:v>Channels-last FP32</c:v>
          </c:tx>
          <c:spPr>
            <a:solidFill xmlns:a="http://schemas.openxmlformats.org/drawingml/2006/main">
              <a:srgbClr val="26867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Batch 1</c:v>
                </c:pt>
                <c:pt idx="1">
                  <c:v>Batch 32</c:v>
                </c:pt>
                <c:pt idx="2">
                  <c:v>Batch 128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0.0552625</c:v>
                </c:pt>
                <c:pt idx="1">
                  <c:v>0.350683</c:v>
                </c:pt>
                <c:pt idx="2">
                  <c:v>1.0717515</c:v>
                </c:pt>
              </c:numCache>
            </c:numRef>
          </c:val>
        </c:ser>
        <c:ser>
          <c:idx val="2"/>
          <c:order val="2"/>
          <c:tx>
            <c:v>INT8</c:v>
          </c:tx>
          <c:spPr>
            <a:solidFill xmlns:a="http://schemas.openxmlformats.org/drawingml/2006/main">
              <a:srgbClr val="B85440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Batch 1</c:v>
                </c:pt>
                <c:pt idx="1">
                  <c:v>Batch 32</c:v>
                </c:pt>
                <c:pt idx="2">
                  <c:v>Batch 128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0.269484</c:v>
                </c:pt>
                <c:pt idx="1">
                  <c:v>0.371383</c:v>
                </c:pt>
                <c:pt idx="2">
                  <c:v>0.966729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Median forward latency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5AD543-1256-4EC3-AF01-F06F17D8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ANNA Neural Intelligence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A49C1D-2EEB-4E33-B983-0781FA5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Hardware-aware CNN engineering</a:t>
            </a:r>
          </a:p>
        </p:txBody>
      </p:sp>
      <p:sp>
        <p:nvSpPr>
          <p:cNvPr id="3" name="owner">
            <a:extLst xmlns:a="http://schemas.openxmlformats.org/drawingml/2006/main">
              <a:ext uri="{FF2B5EF4-FFF2-40B4-BE49-F238E27FC236}">
                <a16:creationId xmlns:a16="http://schemas.microsoft.com/office/drawing/2014/main" id="{81D393EE-75CE-4779-8DD6-40E9367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Christopher Payne</a:t>
            </a:r>
          </a:p>
          <a:p xmlns:a="http://schemas.openxmlformats.org/drawingml/2006/main">
            <a:pPr>
              <a:defRPr sz="24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Anna Nexus Labs LLC</a:t>
            </a:r>
          </a:p>
        </p:txBody>
      </p:sp>
      <p:sp>
        <p:nvSpPr>
          <p:cNvPr id="4" name="status">
            <a:extLst xmlns:a="http://schemas.openxmlformats.org/drawingml/2006/main">
              <a:ext uri="{FF2B5EF4-FFF2-40B4-BE49-F238E27FC236}">
                <a16:creationId xmlns:a16="http://schemas.microsoft.com/office/drawing/2014/main" id="{4796762A-F9DE-4BED-9C85-406BEE96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Locally trained and measured on CPU</a:t>
            </a:r>
          </a:p>
          <a:p xmlns:a="http://schemas.openxmlformats.org/drawingml/2006/main">
            <a: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Repository and website publication await review</a:t>
            </a:r>
          </a:p>
        </p:txBody>
      </p:sp>
    </p:spTree>
    <p:extLst>
      <p:ext uri="{BB962C8B-B14F-4D97-AF65-F5344CB8AC3E}">
        <p14:creationId xmlns:p14="http://schemas.microsoft.com/office/powerpoint/2010/main" val="855479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AAE72-1B1E-40B1-8C2F-1BB2ECE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Engineering objective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ED8631-515C-4C86-B3A7-CBAA8ABC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Build an original network and preserve evidence for every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Train on real images with an untouched test file.</a:t>
            </a:r>
          </a:p>
          <a:p xmlns:a="http://schemas.openxmlformats.org/drawingml/2006/main">
            <a:pPr>
              <a:def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Compare precision, layout and batching on the available CPU.</a:t>
            </a:r>
          </a:p>
          <a:p xmlns:a="http://schemas.openxmlformats.org/drawingml/2006/main">
            <a:pPr>
              <a:def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Retain source, checkpoints, raw timings and failed attempts.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EB07FDE-D084-4017-96EA-891E3EFE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Standalone from ANNA 1.3. No provider API calls or paid compute.</a:t>
            </a:r>
          </a:p>
        </p:txBody>
      </p:sp>
    </p:spTree>
    <p:extLst>
      <p:ext uri="{BB962C8B-B14F-4D97-AF65-F5344CB8AC3E}">
        <p14:creationId xmlns:p14="http://schemas.microsoft.com/office/powerpoint/2010/main" val="859217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F42F92-E103-4E00-A26A-D822B4D2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ForgeCNN architecture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BE974-25F3-4EFD-AADD-23E32D8EE95B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857500"/>
                <a:gridCol w="2095500"/>
                <a:gridCol w="20955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Output / batch 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Parameters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MACs / image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1 × 8 ×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Conv 1 + ReLU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16 × 8 ×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9,216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MaxPool 2 ×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16 × 4 ×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Conv 2 + ReLU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32 × 4 ×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4,640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73,728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Flatten + Linear + ReLU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32,832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32,768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 logits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×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total">
            <a:extLst xmlns:a="http://schemas.openxmlformats.org/drawingml/2006/main">
              <a:ext uri="{FF2B5EF4-FFF2-40B4-BE49-F238E27FC236}">
                <a16:creationId xmlns:a16="http://schemas.microsoft.com/office/drawing/2014/main" id="{7FC713C8-45DE-4F6F-BFED-5CC1A8E0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38,282 parameters     116,352 MACs per image</a:t>
            </a:r>
          </a:p>
        </p:txBody>
      </p:sp>
    </p:spTree>
    <p:extLst>
      <p:ext uri="{BB962C8B-B14F-4D97-AF65-F5344CB8AC3E}">
        <p14:creationId xmlns:p14="http://schemas.microsoft.com/office/powerpoint/2010/main" val="698930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E2E7A8-0A2D-4E19-86CB-AE8647A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Training and evaluation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EB260EA-D975-4CFC-8174-3DA073426A4F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ae2a63ca8b48fe"/>
          </a:graphicData>
        </a:graphic>
      </p:graphicFrame>
      <p:sp>
        <p:nvSpPr>
          <p:cNvPr id="3" name="training-facts">
            <a:extLst xmlns:a="http://schemas.openxmlformats.org/drawingml/2006/main">
              <a:ext uri="{FF2B5EF4-FFF2-40B4-BE49-F238E27FC236}">
                <a16:creationId xmlns:a16="http://schemas.microsoft.com/office/drawing/2014/main" id="{BC513EC3-BB68-4208-B9F9-86381B1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71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3,249 training images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574 validation images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1,797 test images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AdamW, LR 0.002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Batch 64, 40 epochs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Selected epoch 14</a:t>
            </a:r>
          </a:p>
        </p:txBody>
      </p:sp>
      <p:sp>
        <p:nvSpPr>
          <p:cNvPr id="4" name="seeds">
            <a:extLst xmlns:a="http://schemas.openxmlformats.org/drawingml/2006/main">
              <a:ext uri="{FF2B5EF4-FFF2-40B4-BE49-F238E27FC236}">
                <a16:creationId xmlns:a16="http://schemas.microsoft.com/office/drawing/2014/main" id="{60FC10F2-72C3-4DCB-87D6-F666EEA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Three training seeds. Repeating seed 369 reproduced identical selected weights.</a:t>
            </a:r>
          </a:p>
        </p:txBody>
      </p:sp>
    </p:spTree>
    <p:extLst>
      <p:ext uri="{BB962C8B-B14F-4D97-AF65-F5344CB8AC3E}">
        <p14:creationId xmlns:p14="http://schemas.microsoft.com/office/powerpoint/2010/main" val="1154686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26E7C7-5249-4253-9442-54A094F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Quantization tradeoffs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DB10-221B-4581-A2EF-F5B39A55704F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763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238375"/>
                <a:gridCol w="2238375"/>
                <a:gridCol w="25717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4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 state KiB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T w="9525">
                      <a:solidFill>
                        <a:srgbClr val="BDCAD5"/>
                      </a:solidFill>
                      <a:prstDash val="solid"/>
                    </a:lnT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DCE8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FP32 contiguous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97.61%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0.0862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152.75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FP32 channels-last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97.61%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0.0862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weights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INT8 x86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CAD5"/>
                      </a:solidFill>
                      <a:prstDash val="solid"/>
                    </a:lnL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96.72%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0.1179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65C6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46.73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CAD5"/>
                      </a:solidFill>
                      <a:prstDash val="solid"/>
                    </a:lnR>
                    <a:lnB w="9525">
                      <a:solidFill>
                        <a:srgbClr val="BDCAD5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tradeoff">
            <a:extLst xmlns:a="http://schemas.openxmlformats.org/drawingml/2006/main">
              <a:ext uri="{FF2B5EF4-FFF2-40B4-BE49-F238E27FC236}">
                <a16:creationId xmlns:a16="http://schemas.microsoft.com/office/drawing/2014/main" id="{106A37FC-E592-42B7-804C-237D733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854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854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85440"/>
                </a:solidFill>
                <a:latin typeface="DejaVu Sans"/>
                <a:ea typeface="DejaVu Sans"/>
                <a:cs typeface="DejaVu Sans"/>
              </a:rPr>
              <a:t>INT8 reduces storage by 69.4%.</a:t>
            </a:r>
          </a:p>
          <a:p xmlns:a="http://schemas.openxmlformats.org/drawingml/2006/main">
            <a:pPr>
              <a:defRPr sz="2250" b="1">
                <a:solidFill>
                  <a:srgbClr val="B854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85440"/>
                </a:solidFill>
                <a:latin typeface="DejaVu Sans"/>
                <a:ea typeface="DejaVu Sans"/>
                <a:cs typeface="DejaVu Sans"/>
              </a:rPr>
              <a:t>Held-out accuracy drops by 0.89 percentage points.</a:t>
            </a:r>
          </a:p>
        </p:txBody>
      </p:sp>
    </p:spTree>
    <p:extLst>
      <p:ext uri="{BB962C8B-B14F-4D97-AF65-F5344CB8AC3E}">
        <p14:creationId xmlns:p14="http://schemas.microsoft.com/office/powerpoint/2010/main" val="1312206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A95170-D07D-4481-9941-4426069F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CPU latency by batch size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F78D846-2DEE-462C-993A-AF559B7E6AE8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f5a200eb0541b1"/>
          </a:graphicData>
        </a:graphic>
      </p:graphicFrame>
      <p:sp>
        <p:nvSpPr>
          <p:cNvPr id="3" name="latency-takeaway">
            <a:extLst xmlns:a="http://schemas.openxmlformats.org/drawingml/2006/main">
              <a:ext uri="{FF2B5EF4-FFF2-40B4-BE49-F238E27FC236}">
                <a16:creationId xmlns:a16="http://schemas.microsoft.com/office/drawing/2014/main" id="{7638541D-9023-4ADF-9C71-4DF3896C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INT8 is slower at batch one and faster at larger batches in these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74927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38427F-A2EB-40CF-81AF-5C193982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Measurement scope and hardware limits</a:t>
            </a:r>
          </a:p>
        </p:txBody>
      </p:sp>
      <p:sp>
        <p:nvSpPr>
          <p:cNvPr id="2" name="hardware">
            <a:extLst xmlns:a="http://schemas.openxmlformats.org/drawingml/2006/main">
              <a:ext uri="{FF2B5EF4-FFF2-40B4-BE49-F238E27FC236}">
                <a16:creationId xmlns:a16="http://schemas.microsoft.com/office/drawing/2014/main" id="{28F1D292-D22C-468F-BA93-EC795B49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Xeon Platinum 8573C CPU, shared Linux container</a:t>
            </a:r>
          </a:p>
          <a:p xmlns:a="http://schemas.openxmlformats.org/drawingml/2006/main">
            <a: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36 conditions across precision, layout, batch and threads</a:t>
            </a:r>
          </a:p>
        </p:txBody>
      </p:sp>
      <p:sp>
        <p:nvSpPr>
          <p:cNvPr id="3" name="method">
            <a:extLst xmlns:a="http://schemas.openxmlformats.org/drawingml/2006/main">
              <a:ext uri="{FF2B5EF4-FFF2-40B4-BE49-F238E27FC236}">
                <a16:creationId xmlns:a16="http://schemas.microsoft.com/office/drawing/2014/main" id="{3866B288-7D7D-4827-9F04-A5FD69F8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477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500 timed forwards per condition after warmup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Mean, median, p95 and repeated variability retained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Fresh-process startup measured separately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Operator profiles identify work without proving a bandwidth bottleneck</a:t>
            </a:r>
          </a:p>
        </p:txBody>
      </p:sp>
      <p:sp>
        <p:nvSpPr>
          <p:cNvPr id="4" name="memory">
            <a:extLst xmlns:a="http://schemas.openxmlformats.org/drawingml/2006/main">
              <a:ext uri="{FF2B5EF4-FFF2-40B4-BE49-F238E27FC236}">
                <a16:creationId xmlns:a16="http://schemas.microsoft.com/office/drawing/2014/main" id="{849B6CDC-3E1F-4649-968D-5632791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Process peak RSS includes Python and PyTorch. No GPU or custom silicon results.</a:t>
            </a:r>
          </a:p>
        </p:txBody>
      </p:sp>
    </p:spTree>
    <p:extLst>
      <p:ext uri="{BB962C8B-B14F-4D97-AF65-F5344CB8AC3E}">
        <p14:creationId xmlns:p14="http://schemas.microsoft.com/office/powerpoint/2010/main" val="1983008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E53089-7BC6-4942-A85A-A49C465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Verification and technical discussion</a:t>
            </a:r>
          </a:p>
        </p:txBody>
      </p:sp>
      <p:sp>
        <p:nvSpPr>
          <p:cNvPr id="2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2CF60EC6-1494-43D5-A428-0CA1199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29 neural tests pass. Checkpoint restore and full-seed reproduction pass.</a:t>
            </a:r>
          </a:p>
          <a:p xmlns:a="http://schemas.openxmlformats.org/drawingml/2006/main">
            <a:pPr>
              <a:def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05A91"/>
                </a:solidFill>
                <a:latin typeface="DejaVu Sans"/>
                <a:ea typeface="DejaVu Sans"/>
                <a:cs typeface="DejaVu Sans"/>
              </a:rPr>
              <a:t>ANNA 1.3 separately retains 101 passing tests and strict TypeScript.</a:t>
            </a:r>
          </a:p>
        </p:txBody>
      </p:sp>
      <p:sp>
        <p:nvSpPr>
          <p:cNvPr id="3" name="discussion">
            <a:extLst xmlns:a="http://schemas.openxmlformats.org/drawingml/2006/main">
              <a:ext uri="{FF2B5EF4-FFF2-40B4-BE49-F238E27FC236}">
                <a16:creationId xmlns:a16="http://schemas.microsoft.com/office/drawing/2014/main" id="{58209BF9-B910-4810-8721-FA5C8C0F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668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Discussion: latency regression diagnosis, batch tradeoffs, quantization error,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memory traffic, compiler validation and transfer to new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Limits: small digit workload, shared CPU variability and one tested platform.</a:t>
            </a:r>
          </a:p>
          <a:p xmlns:a="http://schemas.openxmlformats.org/drawingml/2006/main">
            <a:pPr>
              <a:def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63249"/>
                </a:solidFill>
                <a:latin typeface="DejaVu Sans"/>
                <a:ea typeface="DejaVu Sans"/>
                <a:cs typeface="DejaVu Sans"/>
              </a:rPr>
              <a:t>AI-assisted implementation. Independent reproduction remains open.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F6B7FC61-7B29-4018-8B59-DC97B567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65C6E"/>
                </a:solidFill>
                <a:latin typeface="DejaVu Sans"/>
                <a:ea typeface="DejaVu Sans"/>
                <a:cs typeface="DejaVu Sans"/>
              </a:rPr>
              <a:t>Next decision: review the source, measurements and proposed publication.</a:t>
            </a:r>
          </a:p>
        </p:txBody>
      </p:sp>
    </p:spTree>
    <p:extLst>
      <p:ext uri="{BB962C8B-B14F-4D97-AF65-F5344CB8AC3E}">
        <p14:creationId xmlns:p14="http://schemas.microsoft.com/office/powerpoint/2010/main" val="1731393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2026-10-13T22:28:52.6000000Z</dcterms:created>
  <dcterms:modified xsi:type="dcterms:W3CDTF">2026-10-13T22:28:52.6010000Z</dcterms:modified>
</coreProperties>
</file>